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1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60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2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2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3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4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9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38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8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55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4167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75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71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55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22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1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39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1262" y="1835360"/>
            <a:ext cx="9144000" cy="1641490"/>
          </a:xfrm>
        </p:spPr>
        <p:txBody>
          <a:bodyPr>
            <a:normAutofit/>
          </a:bodyPr>
          <a:lstStyle/>
          <a:p>
            <a:r>
              <a:rPr sz="7200" dirty="0"/>
              <a:t>Credit Scoring Financial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dirty="0"/>
              <a:t>Samwel Kipkemboi</a:t>
            </a:r>
          </a:p>
          <a:p>
            <a:r>
              <a:rPr dirty="0"/>
              <a:t>Machine Learning for Risk-Based Lending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Financial institutions frequently struggle to assess the creditworthiness of loan applicants using manual or inconsistent methods</a:t>
            </a:r>
          </a:p>
          <a:p>
            <a:r>
              <a:rPr lang="en-US" dirty="0"/>
              <a:t> Therefore, it leads to lending decisions that either approve high‑risk borrowers or reject low‑risk ones. </a:t>
            </a:r>
          </a:p>
          <a:p>
            <a:r>
              <a:rPr lang="en-US" dirty="0"/>
              <a:t>This increases financial losses from defaults and limits business growth.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lang="en-US" dirty="0"/>
              <a:t>This project builds a data‑driven credit scoring model that predicts the likelihood of loan default, helping lenders make informed, consistent, and fair lending decisions, improve risk management, and increase profitability.</a:t>
            </a:r>
            <a:endParaRPr dirty="0"/>
          </a:p>
          <a:p>
            <a:r>
              <a:rPr lang="en-US" dirty="0"/>
              <a:t>It d</a:t>
            </a:r>
            <a:r>
              <a:rPr dirty="0"/>
              <a:t>evelop</a:t>
            </a:r>
            <a:r>
              <a:rPr lang="en-US" dirty="0"/>
              <a:t>s</a:t>
            </a:r>
            <a:r>
              <a:rPr dirty="0"/>
              <a:t> fair, interpretable, and scalable ML predictions</a:t>
            </a:r>
            <a:endParaRPr lang="en-US" dirty="0"/>
          </a:p>
          <a:p>
            <a:r>
              <a:rPr lang="en-US" dirty="0"/>
              <a:t>Therefore , It enable consistent and profitable risk based loan approvals</a:t>
            </a:r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project uses historical loan and applicant data in Kenya to analyze patterns that influence creditworthiness. Key steps include</a:t>
            </a:r>
          </a:p>
          <a:p>
            <a:r>
              <a:rPr lang="en-US" b="1" dirty="0"/>
              <a:t>EDA:</a:t>
            </a:r>
            <a:r>
              <a:rPr lang="en-US" dirty="0"/>
              <a:t> Explore distributions, outliers, correlations, and trends</a:t>
            </a:r>
          </a:p>
          <a:p>
            <a:r>
              <a:rPr lang="en-US" b="1" dirty="0"/>
              <a:t>Data Quality:</a:t>
            </a:r>
            <a:r>
              <a:rPr lang="en-US" dirty="0"/>
              <a:t> Identify and handle missing values, duplicates, and inconsistencies</a:t>
            </a:r>
          </a:p>
          <a:p>
            <a:r>
              <a:rPr lang="en-US" b="1" dirty="0"/>
              <a:t>Key Features:</a:t>
            </a:r>
            <a:r>
              <a:rPr lang="en-US" dirty="0"/>
              <a:t> Debt-to-income ratio, previous defaults, loan amount vs income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Created financial and behavioral features for predictive modeling</a:t>
            </a:r>
          </a:p>
          <a:p>
            <a:pPr marL="0" indent="0">
              <a:buNone/>
            </a:pPr>
            <a:r>
              <a:rPr dirty="0"/>
              <a:t>Transformed raw borrower data into machine learning signals</a:t>
            </a:r>
            <a:endParaRPr lang="en-US" dirty="0"/>
          </a:p>
          <a:p>
            <a:r>
              <a:rPr lang="en-US" b="1" dirty="0"/>
              <a:t>Customer Behavior Aggregates:</a:t>
            </a:r>
            <a:r>
              <a:rPr lang="en-US" dirty="0"/>
              <a:t> Mean/median repayments to capture typical borrowing and repayment patterns.</a:t>
            </a:r>
          </a:p>
          <a:p>
            <a:r>
              <a:rPr lang="en-US" b="1" dirty="0"/>
              <a:t>Temporal and Loan Features:</a:t>
            </a:r>
            <a:r>
              <a:rPr lang="en-US" dirty="0"/>
              <a:t> Loan dates, term length, and seasonal patterns to capture timing-related risk.</a:t>
            </a:r>
          </a:p>
          <a:p>
            <a:r>
              <a:rPr lang="en-US" b="1" dirty="0"/>
              <a:t>Financial Ratios and Deviations:</a:t>
            </a:r>
            <a:r>
              <a:rPr lang="en-US" dirty="0"/>
              <a:t> Repayment ratios, daily burden, and deviations from historical behavior to flag unusual risk.</a:t>
            </a:r>
          </a:p>
          <a:p>
            <a:r>
              <a:rPr lang="en-US" b="1" dirty="0"/>
              <a:t>Risk Scoring:</a:t>
            </a:r>
            <a:r>
              <a:rPr lang="en-US" dirty="0"/>
              <a:t> Transparent, rule-based tier system (GOOD → EXTREME) for interpretable borrower risk.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XGBoost and LightGBM models for credit risk prediction</a:t>
            </a:r>
          </a:p>
          <a:p>
            <a:r>
              <a:t>Applied cross-validation to optimize performance and generalization</a:t>
            </a:r>
          </a:p>
          <a:p>
            <a:r>
              <a:t>Evaluated using ROC-AUC, F1-score, precision, and recall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accurately predicts high-risk borrowers, enabling reliable lending decisions.</a:t>
            </a:r>
          </a:p>
          <a:p>
            <a:r>
              <a:rPr lang="en-US" dirty="0"/>
              <a:t>Achieves </a:t>
            </a:r>
            <a:r>
              <a:rPr lang="en-US" b="1" dirty="0"/>
              <a:t>~75% overall F1-score</a:t>
            </a:r>
            <a:r>
              <a:rPr lang="en-US" dirty="0"/>
              <a:t> for default prediction, balancing precision and recall</a:t>
            </a:r>
          </a:p>
          <a:p>
            <a:r>
              <a:rPr lang="en-US" dirty="0"/>
              <a:t>Very high </a:t>
            </a:r>
            <a:r>
              <a:rPr lang="en-US" b="1" dirty="0"/>
              <a:t>ROC-AUC (0.99)</a:t>
            </a:r>
            <a:r>
              <a:rPr lang="en-US" dirty="0"/>
              <a:t>, indicating strong ability to separate defaulters from non-defaulters.</a:t>
            </a:r>
          </a:p>
          <a:p>
            <a:r>
              <a:rPr lang="en-US" dirty="0"/>
              <a:t>Consistent performance across multiple validation folds → model is </a:t>
            </a:r>
            <a:r>
              <a:rPr lang="en-US" b="1" dirty="0"/>
              <a:t>robust and reliable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/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Deployed model as a </a:t>
            </a:r>
            <a:r>
              <a:rPr dirty="0" err="1"/>
              <a:t>Streamlit</a:t>
            </a:r>
            <a:r>
              <a:rPr dirty="0"/>
              <a:t> app for real-time credit scoring</a:t>
            </a:r>
          </a:p>
          <a:p>
            <a:r>
              <a:rPr dirty="0"/>
              <a:t>Users input borrower data and receive default probability and risk tier</a:t>
            </a:r>
          </a:p>
          <a:p>
            <a:r>
              <a:rPr dirty="0"/>
              <a:t>Supports operational lending decisions effectively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2B6BD-E672-03CE-8416-62A5F1A20F36}"/>
              </a:ext>
            </a:extLst>
          </p:cNvPr>
          <p:cNvSpPr txBox="1"/>
          <p:nvPr/>
        </p:nvSpPr>
        <p:spPr>
          <a:xfrm>
            <a:off x="1120000" y="6176963"/>
            <a:ext cx="1052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Testing Link: https://credit-scoring-financial-model.streamlit.app/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Enables data-driven and consistent lending decisions</a:t>
            </a:r>
          </a:p>
          <a:p>
            <a:r>
              <a:t>Reduces financial losses from defaults</a:t>
            </a:r>
          </a:p>
          <a:p>
            <a:r>
              <a:t>Supports regulatory compliance and operational efficiency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Imbalanced dataset → applied resampling and validation techniques</a:t>
            </a:r>
          </a:p>
          <a:p>
            <a:r>
              <a:t>Feature quality → engineered business-meaningful features</a:t>
            </a:r>
          </a:p>
          <a:p>
            <a:r>
              <a:t>Model interpretability → explained risk tiers to stakeholders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ETL pipeline for real-time updates</a:t>
            </a:r>
          </a:p>
          <a:p>
            <a:r>
              <a:t>Incorporate external credit datasets to improve prediction</a:t>
            </a:r>
          </a:p>
          <a:p>
            <a:r>
              <a:t>Add explainability tools (SHAP) for transparency</a:t>
            </a:r>
          </a:p>
          <a:p>
            <a:r>
              <a:t>Build API for enterprise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ML can transform lending decisions</a:t>
            </a:r>
          </a:p>
          <a:p>
            <a:r>
              <a:t>Predicts credit risk with reliable data-driven insights</a:t>
            </a:r>
          </a:p>
          <a:p>
            <a:r>
              <a:t>Bridges business needs with technical implementation</a:t>
            </a:r>
          </a:p>
          <a:p>
            <a:r>
              <a:t>Deployment-ready solution for real-world financial applications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35178"/>
            <a:ext cx="9144000" cy="1641490"/>
          </a:xfrm>
        </p:spPr>
        <p:txBody>
          <a:bodyPr/>
          <a:lstStyle/>
          <a:p>
            <a:r>
              <a:rPr dirty="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017459"/>
            <a:ext cx="9144000" cy="754025"/>
          </a:xfrm>
        </p:spPr>
        <p:txBody>
          <a:bodyPr>
            <a:noAutofit/>
          </a:bodyPr>
          <a:lstStyle/>
          <a:p>
            <a:pPr algn="l"/>
            <a:r>
              <a:rPr sz="2400" b="1" dirty="0"/>
              <a:t>Thank you for your time – </a:t>
            </a:r>
            <a:r>
              <a:rPr sz="2400" b="1" i="1" dirty="0"/>
              <a:t>Samwel Kipkemboi</a:t>
            </a:r>
            <a:endParaRPr lang="en-US" sz="2400" b="1" i="1" dirty="0"/>
          </a:p>
          <a:p>
            <a:pPr algn="l"/>
            <a:r>
              <a:rPr lang="en-US" sz="2400" b="1" dirty="0"/>
              <a:t>Email: </a:t>
            </a:r>
            <a:r>
              <a:rPr lang="en-US" sz="2400" b="1" i="1" dirty="0"/>
              <a:t>samkemboi201@gmail.com</a:t>
            </a:r>
            <a:endParaRPr sz="2400" b="1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94</TotalTime>
  <Words>520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Corbel</vt:lpstr>
      <vt:lpstr>Depth</vt:lpstr>
      <vt:lpstr>Credit Scoring Financial Model</vt:lpstr>
      <vt:lpstr>Business Problem</vt:lpstr>
      <vt:lpstr>Project Objective</vt:lpstr>
      <vt:lpstr>Data Understanding</vt:lpstr>
      <vt:lpstr>Feature Engineering</vt:lpstr>
      <vt:lpstr>Modeling Approach</vt:lpstr>
      <vt:lpstr>Model Performance</vt:lpstr>
      <vt:lpstr>Deployment / Application</vt:lpstr>
      <vt:lpstr>Business Value</vt:lpstr>
      <vt:lpstr>Challenges &amp; Solutions</vt:lpstr>
      <vt:lpstr>Future Work</vt:lpstr>
      <vt:lpstr>Conclusion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samwel</dc:creator>
  <cp:keywords/>
  <dc:description>generated using python-pptx</dc:description>
  <cp:lastModifiedBy>Samwel Kipkemboi</cp:lastModifiedBy>
  <cp:revision>2</cp:revision>
  <dcterms:created xsi:type="dcterms:W3CDTF">2013-01-27T09:14:16Z</dcterms:created>
  <dcterms:modified xsi:type="dcterms:W3CDTF">2026-02-16T12:38:12Z</dcterms:modified>
  <cp:category/>
</cp:coreProperties>
</file>